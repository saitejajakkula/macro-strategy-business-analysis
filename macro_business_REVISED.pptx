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6" r:id="rId27"/>
    <p:sldId id="277" r:id="rId28"/>
    <p:sldId id="257" r:id="rId3"/>
    <p:sldId id="258" r:id="rId4"/>
    <p:sldId id="259" r:id="rId5"/>
    <p:sldId id="260" r:id="rId6"/>
    <p:sldId id="261" r:id="rId7"/>
    <p:sldId id="262" r:id="rId8"/>
    <p:sldId id="263" r:id="rId9"/>
    <p:sldId id="278" r:id="rId2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Cost vs. Pricing Power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Input Cost Rise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10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78-46E9-91E2-6990715AC6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Price Increase (Strong Brand)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11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78-46E9-91E2-6990715AC6F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Price Increase (Weak Brand)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78-46E9-91E2-6990715AC6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Rates vs. Growth Valuations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Fed Rate (%)</c:v>
                </c:pt>
              </c:strCache>
            </c:strRef>
          </c:tx>
          <c:spPr>
            <a:ln w="25400" cap="flat">
              <a:solidFill>
                <a:srgbClr val="E639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0.25</c:v>
                </c:pt>
                <c:pt idx="1">
                  <c:v>0.25</c:v>
                </c:pt>
                <c:pt idx="2">
                  <c:v>4.5</c:v>
                </c:pt>
                <c:pt idx="3">
                  <c:v>5.5</c:v>
                </c:pt>
                <c:pt idx="4">
                  <c:v>5.25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325-46A4-AA75-C8D877ADFF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Growth Stock Index (rebased)</c:v>
                </c:pt>
              </c:strCache>
            </c:strRef>
          </c:tx>
          <c:spPr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140</c:v>
                </c:pt>
                <c:pt idx="2">
                  <c:v>80</c:v>
                </c:pt>
                <c:pt idx="3">
                  <c:v>95</c:v>
                </c:pt>
                <c:pt idx="4">
                  <c:v>110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325-46A4-AA75-C8D877ADFF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Tech Stocks vs. Fed Rate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Tech Index (Rebased)</c:v>
                </c:pt>
              </c:strCache>
            </c:strRef>
          </c:tx>
          <c:spPr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Jan'21</c:v>
                </c:pt>
                <c:pt idx="1">
                  <c:v>Jul'21</c:v>
                </c:pt>
                <c:pt idx="2">
                  <c:v>Jan'22</c:v>
                </c:pt>
                <c:pt idx="3">
                  <c:v>Jul'22</c:v>
                </c:pt>
                <c:pt idx="4">
                  <c:v>Jan'23</c:v>
                </c:pt>
                <c:pt idx="5">
                  <c:v>Jul'23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128</c:v>
                </c:pt>
                <c:pt idx="2">
                  <c:v>118</c:v>
                </c:pt>
                <c:pt idx="3">
                  <c:v>75</c:v>
                </c:pt>
                <c:pt idx="4">
                  <c:v>85</c:v>
                </c:pt>
                <c:pt idx="5">
                  <c:v>102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23B-43C3-912F-D75246B299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Fed Rate (%)</c:v>
                </c:pt>
              </c:strCache>
            </c:strRef>
          </c:tx>
          <c:spPr>
            <a:ln w="25400" cap="flat">
              <a:solidFill>
                <a:srgbClr val="E639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Jan'21</c:v>
                </c:pt>
                <c:pt idx="1">
                  <c:v>Jul'21</c:v>
                </c:pt>
                <c:pt idx="2">
                  <c:v>Jan'22</c:v>
                </c:pt>
                <c:pt idx="3">
                  <c:v>Jul'22</c:v>
                </c:pt>
                <c:pt idx="4">
                  <c:v>Jan'23</c:v>
                </c:pt>
                <c:pt idx="5">
                  <c:v>Jul'23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</c:v>
                </c:pt>
                <c:pt idx="1">
                  <c:v>0.1</c:v>
                </c:pt>
                <c:pt idx="2">
                  <c:v>0.5</c:v>
                </c:pt>
                <c:pt idx="3">
                  <c:v>3</c:v>
                </c:pt>
                <c:pt idx="4">
                  <c:v>4.5</c:v>
                </c:pt>
                <c:pt idx="5">
                  <c:v>5.25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23B-43C3-912F-D75246B299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Oil Price vs. Airline Margins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Crude Oil ($/barrel)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40</c:v>
                </c:pt>
                <c:pt idx="2">
                  <c:v>68</c:v>
                </c:pt>
                <c:pt idx="3">
                  <c:v>100</c:v>
                </c:pt>
                <c:pt idx="4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EA-4D9B-8953-A268741156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Airline Op. Margin (%)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-35</c:v>
                </c:pt>
                <c:pt idx="2">
                  <c:v>-15</c:v>
                </c:pt>
                <c:pt idx="3">
                  <c:v>4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EA-4D9B-8953-A268741156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FMCG Stability vs. GDP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FMCG Revenue Growth (%)</c:v>
                </c:pt>
              </c:strCache>
            </c:strRef>
          </c:tx>
          <c:spPr>
            <a:ln w="25400" cap="flat">
              <a:solidFill>
                <a:srgbClr val="2A9D8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6</c:v>
                </c:pt>
                <c:pt idx="3">
                  <c:v>9</c:v>
                </c:pt>
                <c:pt idx="4">
                  <c:v>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2BF-4B09-86BD-240D7284EB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GDP Growth (%)</c:v>
                </c:pt>
              </c:strCache>
            </c:strRef>
          </c:tx>
          <c:spPr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-3.5</c:v>
                </c:pt>
                <c:pt idx="2">
                  <c:v>5.9</c:v>
                </c:pt>
                <c:pt idx="3">
                  <c:v>3.5</c:v>
                </c:pt>
                <c:pt idx="4">
                  <c:v>2.5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2BF-4B09-86BD-240D7284EB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2423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Models, Competitive Dynamics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Case Studies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 Macro Lens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macroeconomic forces translate into real business outcomes and strategic decisions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0" y="731520"/>
            <a:ext cx="2377440" cy="36576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18288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999"/>
                </a:solidFill>
              </a:rPr>
              <a:t>Strategic Macro Analysis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That Read Macro Early Outperform — Consistently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303520" cy="347472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sets the rules. Companies that embed macro signals into planning react faster and protect margins.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don't operate in a vacuum — macro conditions set the rules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Demand, pricing, and credit access are all macro-driven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that ignore macro signals react late — often fatally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firms embed macro tracking into strategic planning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Embed CPI, PMI, and yield curve tracking into your monthly strategic review — not just your annual plan.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37860" y="1854122"/>
            <a:ext cx="1005840" cy="521208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5760720" y="1764792"/>
            <a:ext cx="10058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 flipV="1">
            <a:off x="6572250" y="2080260"/>
            <a:ext cx="525780" cy="9144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Shape 10"/>
          <p:cNvSpPr/>
          <p:nvPr/>
        </p:nvSpPr>
        <p:spPr>
          <a:xfrm>
            <a:off x="6923063" y="1847088"/>
            <a:ext cx="914400" cy="521208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6884377" y="1872410"/>
            <a:ext cx="1005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 flipV="1">
            <a:off x="7837462" y="2107692"/>
            <a:ext cx="25497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847089"/>
            <a:ext cx="1005840" cy="509954"/>
          </a:xfrm>
          <a:prstGeom prst="rect">
            <a:avLst/>
          </a:prstGeom>
          <a:solidFill>
            <a:srgbClr val="2A9D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7955280" y="1554479"/>
            <a:ext cx="1005840" cy="1146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0" y="822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Drivers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114300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E8EDF8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11430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20840" y="114300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E8EDF8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11430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772400" y="114300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E8EDF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11430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69280" y="14630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E8EDF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14630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20840" y="14630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E8EDF8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14630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69280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2834640"/>
            <a:ext cx="1371600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23760" y="2834640"/>
            <a:ext cx="1371600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0" y="3182112"/>
            <a:ext cx="1371600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0" y="31821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23760" y="3182112"/>
            <a:ext cx="1371600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6" name="Text 34"/>
          <p:cNvSpPr/>
          <p:nvPr/>
        </p:nvSpPr>
        <p:spPr>
          <a:xfrm>
            <a:off x="7223760" y="31821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Without Action Is Just Commentary — This Framework Drives Both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303520" cy="347472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drown in data. The competitive edge is a structured loop: signal → root cause → business impact → decision.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complex data into clear, directional insights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noise from signal — focus on what moves businesses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macro events to sector-level consequences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decisions, not just awareness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Apply this 4-step filter to every macro event. If you can't reach the ACT stage, the analysis is incomplete.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914400"/>
            <a:ext cx="3200400" cy="713232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9326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9326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signal identified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69480" y="1627632"/>
            <a:ext cx="0" cy="155448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1783080"/>
            <a:ext cx="3200400" cy="713232"/>
          </a:xfrm>
          <a:prstGeom prst="rect">
            <a:avLst/>
          </a:prstGeom>
          <a:solidFill>
            <a:srgbClr val="1A4DB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15000" y="18013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18013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analyzed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69480" y="2496312"/>
            <a:ext cx="0" cy="155448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2651760"/>
            <a:ext cx="3200400" cy="713232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15000" y="26700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6700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assessed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9480" y="3364992"/>
            <a:ext cx="0" cy="155448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0" y="3520440"/>
            <a:ext cx="3200400" cy="713232"/>
          </a:xfrm>
          <a:prstGeom prst="rect">
            <a:avLst/>
          </a:prstGeom>
          <a:solidFill>
            <a:srgbClr val="2A9D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15000" y="35387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353872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defined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Power, Not Revenue Size, Determines Long-Run Value Capture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303520" cy="347472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model defines WHO you serve, WHAT you offer, HOW you earn — and whether you can protect that equation under macro stress.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model defines WHO you serve, WHAT you offer, HOW you earn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streams: product sales, subscriptions, licensing, advertising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structure: fixed vs. variable determines operating leverage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 prop is the magnet; monetization is the trap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Before evaluating any company's results, identify its cost structure and pricing power first. These two variables predict performance in any macro regime.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914400"/>
            <a:ext cx="1280160" cy="594360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91440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40880" y="914400"/>
            <a:ext cx="1280160" cy="59436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0" y="91440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2194560"/>
            <a:ext cx="1280160" cy="594360"/>
          </a:xfrm>
          <a:prstGeom prst="rect">
            <a:avLst/>
          </a:prstGeom>
          <a:solidFill>
            <a:srgbClr val="2A9D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0" y="21945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2194560"/>
            <a:ext cx="1280160" cy="594360"/>
          </a:xfrm>
          <a:prstGeom prst="rect">
            <a:avLst/>
          </a:prstGeom>
          <a:solidFill>
            <a:srgbClr val="E639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40880" y="21945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Base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3383280"/>
            <a:ext cx="1280160" cy="594360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33832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Rate Hike Cycles, Asset-Light Models Win; In Growth Spurts, Marketplaces Dominate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303520" cy="347472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macro environment can be a tailwind for one model and a crisis for another. Business model type is the primary risk filter.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Subscription: high predictability, rate-sensitive (future cash flows)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Marketplace: volume-driven, shrinks fast in downturns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Asset-heavy (airlines, factories): brutal in high-rate, high-cost environments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 (software, pharma): resilient margins, valuation multiple compression risk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In a rate hike cycle: asset-light &gt; asset-heavy. In growth spurts: marketplaces win.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914400"/>
            <a:ext cx="1463040" cy="1371600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100584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/ Rate-Sensitive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223760" y="914400"/>
            <a:ext cx="1463040" cy="13716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69480" y="100584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Volume-Driven / Cyclical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0" y="2468880"/>
            <a:ext cx="1463040" cy="1371600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15000" y="256032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ASSET-HEAVY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OpEx / Cost-Sensitive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23760" y="2468880"/>
            <a:ext cx="1463040" cy="1371600"/>
          </a:xfrm>
          <a:prstGeom prst="rect">
            <a:avLst/>
          </a:prstGeom>
          <a:solidFill>
            <a:srgbClr val="2A9D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69480" y="256032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Margin / Multiple Risk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 rot="5400000">
            <a:off x="8212014" y="2029265"/>
            <a:ext cx="1441941" cy="8581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→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23560" y="3931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Revenue Predictability →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-41148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Barriers + Low Rivalry = Durable Margins; Low Barriers = Commoditization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303520" cy="347472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Porter's Five Forces explain why some industries sustain 30%+ margins for decades while others compress to near-zero — regardless of macro conditions.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Rivalry: More competitors compress margins over time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entrants: Low barriers allow disruption, eroding incumbents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Substitutes: Alternative products cap pricing power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power: Large buyers can squeeze supplier margins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power: Concentrated suppliers raise input costs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Run a five-forces scan on any new sector before forming a margin or growth view. It takes 20 minutes and prevents most forecasting errors.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12280" y="2286000"/>
            <a:ext cx="1188720" cy="73152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12280" y="22860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Rivalry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903720" y="1097280"/>
            <a:ext cx="1005840" cy="594360"/>
          </a:xfrm>
          <a:prstGeom prst="roundRect">
            <a:avLst>
              <a:gd name="adj" fmla="val 9231"/>
            </a:avLst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03720" y="109728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183880" y="2331720"/>
            <a:ext cx="910883" cy="594360"/>
          </a:xfrm>
          <a:prstGeom prst="roundRect">
            <a:avLst>
              <a:gd name="adj" fmla="val 9231"/>
            </a:avLst>
          </a:prstGeom>
          <a:solidFill>
            <a:srgbClr val="2A9D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83880" y="23317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03720" y="3520440"/>
            <a:ext cx="1005840" cy="594360"/>
          </a:xfrm>
          <a:prstGeom prst="roundRect">
            <a:avLst>
              <a:gd name="adj" fmla="val 9231"/>
            </a:avLst>
          </a:prstGeom>
          <a:solidFill>
            <a:srgbClr val="E639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35204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97414" y="2331720"/>
            <a:ext cx="931985" cy="594360"/>
          </a:xfrm>
          <a:prstGeom prst="roundRect">
            <a:avLst>
              <a:gd name="adj" fmla="val 9231"/>
            </a:avLst>
          </a:prstGeom>
          <a:solidFill>
            <a:srgbClr val="5A4FC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5623560" y="23317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12280" y="2651760"/>
            <a:ext cx="0" cy="0"/>
          </a:xfrm>
          <a:prstGeom prst="line">
            <a:avLst/>
          </a:prstGeom>
          <a:noFill/>
          <a:ln w="15240">
            <a:solidFill>
              <a:srgbClr val="6B7999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Inflation, Rates, and GDP Growth Together Explain 80% of Business Outcomes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303520" cy="347472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variables move through distinct regimes — and each regime favors a different business model. Getting the regime right is more important than getting the numbers right.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raises input costs → compresses margins unless pricing power exists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rates increase debt cost → reduce expansions, lower valuations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 drives demand → revenue expansion or contraction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(tariffs, regulation) creates sector-level winners and losers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Build a one-page regime tracker. Update monthly. Flag divergences between GDP trend and CPI — they signal inflection points before markets price them.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920240"/>
            <a:ext cx="1188720" cy="9144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77840" y="192024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66560" y="2377440"/>
            <a:ext cx="182880" cy="0"/>
          </a:xfrm>
          <a:prstGeom prst="line">
            <a:avLst/>
          </a:prstGeom>
          <a:noFill/>
          <a:ln w="25400">
            <a:solidFill>
              <a:srgbClr val="0D1B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920240"/>
            <a:ext cx="1188720" cy="914400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192024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COSTS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2377440"/>
            <a:ext cx="182880" cy="0"/>
          </a:xfrm>
          <a:prstGeom prst="line">
            <a:avLst/>
          </a:prstGeom>
          <a:noFill/>
          <a:ln w="25400">
            <a:solidFill>
              <a:srgbClr val="0D1B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920240"/>
            <a:ext cx="921434" cy="914400"/>
          </a:xfrm>
          <a:prstGeom prst="rect">
            <a:avLst/>
          </a:prstGeom>
          <a:solidFill>
            <a:srgbClr val="2A9D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38160" y="192024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3017520"/>
            <a:ext cx="3383280" cy="274320"/>
          </a:xfrm>
          <a:prstGeom prst="rect">
            <a:avLst/>
          </a:prstGeom>
          <a:solidFill>
            <a:srgbClr val="E8EDF8"/>
          </a:solidFill>
          <a:ln/>
        </p:spPr>
      </p:sp>
      <p:sp>
        <p:nvSpPr>
          <p:cNvPr id="18" name="Text 16"/>
          <p:cNvSpPr/>
          <p:nvPr/>
        </p:nvSpPr>
        <p:spPr>
          <a:xfrm>
            <a:off x="5623560" y="3017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3364992"/>
            <a:ext cx="3383280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3364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3712464"/>
            <a:ext cx="3383280" cy="274320"/>
          </a:xfrm>
          <a:prstGeom prst="rect">
            <a:avLst/>
          </a:prstGeom>
          <a:solidFill>
            <a:srgbClr val="E8EDF8"/>
          </a:solidFill>
          <a:ln/>
        </p:spPr>
      </p:sp>
      <p:sp>
        <p:nvSpPr>
          <p:cNvPr id="22" name="Text 20"/>
          <p:cNvSpPr/>
          <p:nvPr/>
        </p:nvSpPr>
        <p:spPr>
          <a:xfrm>
            <a:off x="5623560" y="37124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4059936"/>
            <a:ext cx="3383280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5623560" y="40599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/ Tax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Pricing Power, Every 100bps of Inflation Compresses Gross Margins Directly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257800" cy="347472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raised prices 8.2% organically in FY2022 and held volume — proof that brand strength is the inflation hedge. Commodity-exposed manufacturers with no brand had no such option.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costs (wages, materials, energy) rise with inflation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prices can't be raised, gross margins compress immediately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Commodity-dependent firms (food, manufacturing) most exposed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brands and essential services can pass costs through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leadership strategies buffer inflation — efficiency wins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Screen your holdings for gross margin trend vs. CPI. Any company whose gross margin fell faster than peers during 2021–23 has a pricing power problem.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577840" y="914400"/>
          <a:ext cx="33832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Hikes Deliver a Triple Hit: Higher Debt Costs, Lower Demand, and Compressed Multiples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303520" cy="347472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2022, the Fed raised rates 425bps. Companies with debt/EBITDA above 4x saw refinancing costs spike; unprofitable growth stocks saw 60–80% drawdowns as DCF math reversed.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borrowing costs → reduce capex and expansion plans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borrow less → demand declines in credit-driven sectors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 rises → future earnings worth less today = valuation falls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High-debt companies face refinancing risk at unfavorable terms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Cash-rich, low-debt businesses become relative winners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When the yield curve inverts or Fed signals tightening, rotate from high-multiple growth to cash-generative, low-debt businesses. Speed of rotation matters — act before the market prices the full cycle.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577840" y="822960"/>
          <a:ext cx="33832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Tech — NASDAQ Fell 33% in 2022 as the Fed Hiked 425bps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303520" cy="347472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proved it conclusively: NASDAQ dropped ~33% as the Fed funds rate rose from 0.25% to 4.50%. Unprofitable high-multiple names fell 60–80%. Profitable tech (Apple, Microsoft) fell 20–25% — proof that earnings quality buffers rate sensitivity.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stocks are valued on FUTURE earnings → highly sensitive to discount rate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rate hike cycle: NASDAQ fell ~33% as rates rose from 0→4.5%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High-multiple, no-profit firms crashed hardest; profitable tech resilient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still matters — but rate environment sets the multiple ceiling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Post-peak rates: tech rebounds as DCF math reverses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Always model tech valuations under two rate scenarios (base + +200bps). The delta tells you how rate-sensitive the position is. Source: Bloomberg, Federal Reserve (2022).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577840" y="822960"/>
          <a:ext cx="33832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Airlines — Delta Lost $12.4bn in FY2020 as Load Factors Collapsed to 37%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303520" cy="347472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was the stress test: Delta Air Lines reported a $12.4bn net loss in FY2020 (Delta Annual Report, 2020). Global passenger volumes fell 66% (IATA, 2020). Fixed costs — leases, crew, maintenance — could not be cut. Fuel hedges expired into a collapsed demand environment.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 fuel = 20–30% of airline operating costs; tracks crude oil directly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costs (aircraft leases, crew, maintenance) can't be cut quickly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cyclical — collapses in downturns (COVID: -65% passenger volumes)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power limited — price-sensitive passengers switch on small fare gaps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Hedging helps, but is imperfect and costly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Avoid airlines in any macro scenario combining rising fuel prices + demand uncertainty. The fixed-cost base provides zero buffer. Source: IATA World Air Transport Statistics 2021; Delta FY2020 Annual Report.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577840" y="822960"/>
          <a:ext cx="33832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FMCG — Nestlé and Unilever Grew Revenue Through the 2022 Inflation Shock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303520" cy="347472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reported 8.2% organic growth in FY2022 — all price, zero volume loss — demonstrating that brand equity is a more reliable inflation hedge than any financial instrument. Unilever grew underlying sales 9.0% in the same period. (Source: Company FY2022 Annual Reports.)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non-discretionary — volumes are stable across economic cycles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brands (Nestlé, Unilever, P&amp;G) can raise prices faster than inflation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distribution networks create high barriers to entry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recessions: consumers trade down to own-labels, pressuring mid-tier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markets offer volume growth as income levels rise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In stagflationary environments, overweight FMCG names with brand-driven pricing power and EM distribution reach. They grow revenue in inflation AND hold volume in downturns.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577840" y="822960"/>
          <a:ext cx="33832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With Strong Moats See Macro Headwinds Hurt Competitors More Than Themselves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257800" cy="347472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Amazon's scale, Visa's network effects, and LVMH's brand pricing power are not disrupted by rate cycles or inflation — they are reinforced by them, because weaker competitors exit first.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power: raise prices without losing customers (brand + switching cost)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advantages: larger volume → lower per-unit cost (Amazon, Walmart)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effects: more users = more value = more users (impossible to replicate)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/ patents: legally protected differentiation for a defined period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efficiency: lower cost base survives downturns rivals can't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Before any macro stress scenario, rank businesses by moat strength first. Moat-holders gain share in downturns — the opportunity cost of holding commoditized businesses in stress is maximum.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75130"/>
              </p:ext>
            </p:extLst>
          </p:nvPr>
        </p:nvGraphicFramePr>
        <p:xfrm>
          <a:off x="5577840" y="914399"/>
          <a:ext cx="3383280" cy="3017521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Advantage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4B"/>
                          </a:solidFill>
                        </a:rPr>
                        <a:t>Pricing Power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9D8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</a:rPr>
                        <a:t>Low / None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4B"/>
                          </a:solidFill>
                        </a:rPr>
                        <a:t>Market Share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9D8F"/>
                          </a:solidFill>
                        </a:rPr>
                        <a:t>Dominant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</a:rPr>
                        <a:t>Fragmented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4B"/>
                          </a:solidFill>
                        </a:rPr>
                        <a:t>Switching Cost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9D8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</a:rPr>
                        <a:t>Near Zero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4B"/>
                          </a:solidFill>
                        </a:rPr>
                        <a:t>Margin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9D8F"/>
                          </a:solidFill>
                        </a:rPr>
                        <a:t>20%+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</a:rPr>
                        <a:t>&lt;5%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01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4B"/>
                          </a:solidFill>
                        </a:rPr>
                        <a:t>Moat Type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9D8F"/>
                          </a:solidFill>
                        </a:rPr>
                        <a:t>Brand/IP/Scale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3-Month Lag on Macro-to-Strategy Translation Can Cost Quarters of Margin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212080" cy="347472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adaptation is the core competitive variable. Companies that embedded CPI tracking into pricing reviews in Q1 2021 had six months' lead over peers in protecting margins through 2022.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IDENTIFY: Detect the macro signal early (CPI, PMI, yield curve, policy)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ANALYZE: Assess sector-level and company-level impact paths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Determine whether to act, wait, or hedge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 Implement — pricing, capex, hiring, M&amp;A, portfolio shifts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Build this loop into your quarterly operating cadence. IDENTIFY and ANALYZE should take one week. DECIDE and ACT should follow within the same month.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914400"/>
            <a:ext cx="3383280" cy="713232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23560" y="9601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9601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69480" y="1627632"/>
            <a:ext cx="0" cy="155448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1783080"/>
            <a:ext cx="3383280" cy="713232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18288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ANALYZE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18288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69480" y="2496312"/>
            <a:ext cx="0" cy="155448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2651760"/>
            <a:ext cx="3383280" cy="713232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23560" y="2697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DECIDE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2697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Choice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9480" y="3364992"/>
            <a:ext cx="0" cy="155448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3520440"/>
            <a:ext cx="3383280" cy="713232"/>
          </a:xfrm>
          <a:prstGeom prst="rect">
            <a:avLst/>
          </a:prstGeom>
          <a:solidFill>
            <a:srgbClr val="2A9D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23560" y="3566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35661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Indicators Track 90% of Strategic Risk — Monitor Monthly, Act on Divergences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45820"/>
            <a:ext cx="5120640" cy="306324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shown are illustrative (H2 2023 US macro environment). Update monthly from: BLS (CPI), Federal Reserve (Fed Funds Rate), ISM (PMI), US Treasury (10Y Yield), Conference Board (Consumer Confidence).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(Inflation): Signals cost pressure and pricing environment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Funds Rate: Drives borrowing cost, growth appetite, and valuations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(Manufacturing &amp; Services): Real-time demand / activity indicator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10Y Treasury Yield: Market's view on growth + risk; discount rate proxy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Confidence: Forward indicator of spending trends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When PMI falls while CPI stays elevated (stagflation signal), immediately review pricing power across your portfolio. This divergence preceded the 2022 earnings compression by two quarters.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1645920" cy="1188720"/>
          </a:xfrm>
          <a:prstGeom prst="rect">
            <a:avLst/>
          </a:prstGeom>
          <a:solidFill>
            <a:srgbClr val="E639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77840" y="1005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0" y="134416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77840" y="18013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1645920" cy="1188720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0" y="1005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134416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5.25%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15200" y="18013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0" y="2331720"/>
            <a:ext cx="1645920" cy="1188720"/>
          </a:xfrm>
          <a:prstGeom prst="rect">
            <a:avLst/>
          </a:prstGeom>
          <a:solidFill>
            <a:srgbClr val="2A9D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271576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51.8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77840" y="31729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0" y="2331720"/>
            <a:ext cx="1645920" cy="118872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10Y Yield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0" y="271576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15200" y="31729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46520" y="3630168"/>
            <a:ext cx="1463040" cy="987552"/>
          </a:xfrm>
          <a:prstGeom prst="rect">
            <a:avLst/>
          </a:prstGeom>
          <a:solidFill>
            <a:srgbClr val="5A4FC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3474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38130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46520" y="42702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Firms Build for Macro Shocks in Advance — Not After the Damage Is Done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45820"/>
            <a:ext cx="5120640" cy="306324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with flexible cost structures and commodity hedging programs enter downturns with structural advantages. Those that hedge FX and input costs pre-emptively protect EBITDA margins when competitors are scrambling.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control: Flexible cost structures allow faster response to downturns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diversification: Reduce dependence on single macro zone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hedging: Protect revenue/margin against currency volatility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hedging: Lock in input costs during price spikes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planning: Model multiple macro paths, not just the base case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Audit your cost structure for variable vs. fixed split. If fixed costs exceed 60% of total, you have insufficient flexibility for a 15%+ demand shock. Hedge the top three input cost exposures.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77840" y="914400"/>
            <a:ext cx="1463040" cy="32004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06640" y="914400"/>
            <a:ext cx="1554480" cy="32004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1325880"/>
            <a:ext cx="1463040" cy="502920"/>
          </a:xfrm>
          <a:prstGeom prst="rect">
            <a:avLst/>
          </a:prstGeom>
          <a:solidFill>
            <a:srgbClr val="E639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77840" y="13258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Risk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40880" y="1572768"/>
            <a:ext cx="36576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1325880"/>
            <a:ext cx="1554480" cy="502920"/>
          </a:xfrm>
          <a:prstGeom prst="rect">
            <a:avLst/>
          </a:prstGeom>
          <a:solidFill>
            <a:srgbClr val="2A9D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06640" y="1325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Hedging &amp; Pricing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77840" y="1984248"/>
            <a:ext cx="1463040" cy="502920"/>
          </a:xfrm>
          <a:prstGeom prst="rect">
            <a:avLst/>
          </a:prstGeom>
          <a:solidFill>
            <a:srgbClr val="E639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19842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Risk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040880" y="2231136"/>
            <a:ext cx="36576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1984248"/>
            <a:ext cx="1554480" cy="502920"/>
          </a:xfrm>
          <a:prstGeom prst="rect">
            <a:avLst/>
          </a:prstGeom>
          <a:solidFill>
            <a:srgbClr val="2A9D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06640" y="198424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Management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77840" y="2642616"/>
            <a:ext cx="1463040" cy="502920"/>
          </a:xfrm>
          <a:prstGeom prst="rect">
            <a:avLst/>
          </a:prstGeom>
          <a:solidFill>
            <a:srgbClr val="E639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77840" y="264261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Risk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40880" y="2889504"/>
            <a:ext cx="36576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2642616"/>
            <a:ext cx="1554480" cy="502920"/>
          </a:xfrm>
          <a:prstGeom prst="rect">
            <a:avLst/>
          </a:prstGeom>
          <a:solidFill>
            <a:srgbClr val="2A9D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06640" y="264261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Contracts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3300984"/>
            <a:ext cx="1463040" cy="502920"/>
          </a:xfrm>
          <a:prstGeom prst="rect">
            <a:avLst/>
          </a:prstGeom>
          <a:solidFill>
            <a:srgbClr val="E639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77840" y="330098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Risk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40880" y="3547872"/>
            <a:ext cx="36576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6640" y="3300984"/>
            <a:ext cx="1554480" cy="502920"/>
          </a:xfrm>
          <a:prstGeom prst="rect">
            <a:avLst/>
          </a:prstGeom>
          <a:solidFill>
            <a:srgbClr val="2A9D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06640" y="330098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Macro Shock Destroys One Business Model and Creates the Conditions for Its Successor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" y="780406"/>
            <a:ext cx="4888524" cy="431174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Post-2008, JP Morgan acquired Bear Stearns' assets at distressed prices. Post-COVID, Airbnb, Zoom, and e-commerce platforms gained years of market share in months. Downturns are the best time to acquire capability at discounted prices.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702190"/>
            <a:ext cx="5120640" cy="26869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hikes kill zombie companies → M&amp;A and talent become cheaper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accelerates automation adoption (labor cost substitution)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disruptions create demand for domestic/nearshore suppliers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stress forces sector consolidation → winners gain share rapidly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movers in post-shock recovery capture disproportionate growth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Maintain a “disruption watchlist” — distressed competitors, available talent, undervalued assets. Enter downturns with capital allocated for opportunistic deployment.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828800"/>
            <a:ext cx="1188720" cy="914400"/>
          </a:xfrm>
          <a:prstGeom prst="rect">
            <a:avLst/>
          </a:prstGeom>
          <a:solidFill>
            <a:srgbClr val="E639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77840" y="18288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0" y="1828800"/>
            <a:ext cx="1005840" cy="914400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18288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46720" y="2286000"/>
            <a:ext cx="182880" cy="0"/>
          </a:xfrm>
          <a:prstGeom prst="line">
            <a:avLst/>
          </a:prstGeom>
          <a:noFill/>
          <a:ln w="25400">
            <a:solidFill>
              <a:srgbClr val="0D1B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828800"/>
            <a:ext cx="1139483" cy="914400"/>
          </a:xfrm>
          <a:prstGeom prst="rect">
            <a:avLst/>
          </a:prstGeom>
          <a:solidFill>
            <a:srgbClr val="2A9D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55280" y="18288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2926080"/>
            <a:ext cx="3383280" cy="27432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5623560" y="2926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M&amp;A at distressed prices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3273552"/>
            <a:ext cx="3383280" cy="274320"/>
          </a:xfrm>
          <a:prstGeom prst="roundRect">
            <a:avLst>
              <a:gd name="adj" fmla="val 13333"/>
            </a:avLst>
          </a:prstGeom>
          <a:solidFill>
            <a:srgbClr val="E8EDF8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32735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Talent acquisition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3621024"/>
            <a:ext cx="3383280" cy="27432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5623560" y="36210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Market share grab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3968496"/>
            <a:ext cx="3383280" cy="274320"/>
          </a:xfrm>
          <a:prstGeom prst="roundRect">
            <a:avLst>
              <a:gd name="adj" fmla="val 13333"/>
            </a:avLst>
          </a:prstGeom>
          <a:solidFill>
            <a:srgbClr val="E8EDF8"/>
          </a:solidFill>
          <a:ln/>
        </p:spPr>
      </p:sp>
      <p:sp>
        <p:nvSpPr>
          <p:cNvPr id="24" name="Text 22"/>
          <p:cNvSpPr/>
          <p:nvPr/>
        </p:nvSpPr>
        <p:spPr>
          <a:xfrm>
            <a:off x="5623560" y="39684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New product lines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Thinking Is Reactive; Second-Order Thinking Is Where the Strategic Edge Lives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303520" cy="347472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oil spiked in 2022, first-order analysts shorted airlines. Second-order thinkers identified that sustained route cuts would benefit leisure hotel markets in drive-to destinations — a completely different investment thesis, priced with a 6-month lag.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First-order: 'Oil price rises → airline costs go up'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Second-order: 'Airlines cut routes → regional tourism drops → hotels suffer'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Third-order: 'Hotel staff laid off → local retail spending falls'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competitors stop at first order — that's where the edge lives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full causal chain before forming a strategic view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For any macro event, write out three causal levels before forming a view. The investable insight is almost always at the second or third level — first-order effects are already priced.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828800"/>
            <a:ext cx="594360" cy="594360"/>
          </a:xfrm>
          <a:prstGeom prst="ellipse">
            <a:avLst/>
          </a:prstGeom>
          <a:solidFill>
            <a:srgbClr val="E639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7784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↑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172200" y="2121408"/>
            <a:ext cx="82296" cy="0"/>
          </a:xfrm>
          <a:prstGeom prst="line">
            <a:avLst/>
          </a:prstGeom>
          <a:noFill/>
          <a:ln w="19050">
            <a:solidFill>
              <a:srgbClr val="6B7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4496" y="1828800"/>
            <a:ext cx="594360" cy="594360"/>
          </a:xfrm>
          <a:prstGeom prst="ellipse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4496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↑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848856" y="2121408"/>
            <a:ext cx="82296" cy="0"/>
          </a:xfrm>
          <a:prstGeom prst="line">
            <a:avLst/>
          </a:prstGeom>
          <a:noFill/>
          <a:ln w="19050">
            <a:solidFill>
              <a:srgbClr val="6B79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31152" y="1828800"/>
            <a:ext cx="594360" cy="59436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31152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525512" y="2121408"/>
            <a:ext cx="82296" cy="0"/>
          </a:xfrm>
          <a:prstGeom prst="line">
            <a:avLst/>
          </a:prstGeom>
          <a:noFill/>
          <a:ln w="19050">
            <a:solidFill>
              <a:srgbClr val="6B79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07808" y="1828800"/>
            <a:ext cx="594360" cy="594360"/>
          </a:xfrm>
          <a:prstGeom prst="ellipse">
            <a:avLst/>
          </a:prstGeom>
          <a:solidFill>
            <a:srgbClr val="5A4FC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07808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202168" y="2121408"/>
            <a:ext cx="82296" cy="0"/>
          </a:xfrm>
          <a:prstGeom prst="line">
            <a:avLst/>
          </a:prstGeom>
          <a:noFill/>
          <a:ln w="19050">
            <a:solidFill>
              <a:srgbClr val="6B79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4464" y="1828800"/>
            <a:ext cx="594360" cy="594360"/>
          </a:xfrm>
          <a:prstGeom prst="ellipse">
            <a:avLst/>
          </a:prstGeom>
          <a:solidFill>
            <a:srgbClr val="E639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84464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Suffer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577840" y="246888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Order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254496" y="246888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Order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931152" y="2468880"/>
            <a:ext cx="11521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3rd+ Order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577840" y="2788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analysts miss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past here →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Rarest Skill Is Not Analysis — It Is Translating Analysis Into a Specific Recommendation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205046" cy="347472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McKinsey’s “so what” discipline, JPMorgan’s sector research format, and Bridgewater’s macro logic all share one feature: every data point must connect to a directional decision. Analysis that ends at the data layer has no commercial value.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macro analysis stops at data — the insight gap is in translation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→ Clarity: Strip away noise, isolate the decision-relevant signal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→ Decision: Frame trade-offs explicitly, present directional choices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→ Action: Identify owners, timelines, and success metrics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framework scales across sectors, cycles, and strategic contexts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Test every analysis with this question: “What should the decision-maker do differently as a result of this?” If you can’t answer in one sentence, the analysis is not done.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914400"/>
            <a:ext cx="3200400" cy="621792"/>
          </a:xfrm>
          <a:prstGeom prst="rect">
            <a:avLst/>
          </a:prstGeom>
          <a:solidFill>
            <a:srgbClr val="E639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77840" y="914400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Noise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97880" y="1719072"/>
            <a:ext cx="2560320" cy="621792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97880" y="171907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Signal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2523744"/>
            <a:ext cx="2011680" cy="621792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2523744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Choice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328416"/>
            <a:ext cx="1371600" cy="621792"/>
          </a:xfrm>
          <a:prstGeom prst="rect">
            <a:avLst/>
          </a:prstGeom>
          <a:solidFill>
            <a:srgbClr val="2A9D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3328416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+ Timeline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Actions That Separate Macro-Aware Leaders From Everyone Else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is unambiguous: firms that embedded macro tracking into strategy — Nestlé, LVMH, JP Morgan, Apple — outperformed peers across every cycle since 2008. The framework in this deck is the operating system they use.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206240" cy="1463040"/>
          </a:xfrm>
          <a:prstGeom prst="rect">
            <a:avLst/>
          </a:prstGeom>
          <a:solidFill>
            <a:srgbClr val="2A9D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447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GDP + PMI monthly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cyclical to defensive at inflection points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 value over volume in stagflation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206240" cy="1463040"/>
          </a:xfrm>
          <a:prstGeom prst="rect">
            <a:avLst/>
          </a:prstGeom>
          <a:solidFill>
            <a:srgbClr val="E639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4447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84708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gross margin vs. CPI quarterly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top 3 input cost exposures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pricing power before each cycle turn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4206240" cy="1463040"/>
          </a:xfrm>
          <a:prstGeom prst="rect">
            <a:avLst/>
          </a:prstGeom>
          <a:solidFill>
            <a:srgbClr val="5A4FC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0906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49300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 macro scenarios — base, bull, stress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net debt/EBITDA below 3x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across geographies and cost bases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4206240" cy="1463040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30906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349300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4-step macro signal loop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trace macro events to 2nd order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and act within the same month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→ Strategy → Competitive Advantage → Long-Run Outperformance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ecutive Summary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228600"/>
            <a:ext cx="82296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Executive Summary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730000"/>
            <a:ext cx="82296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</a:rPr>
              <a:t>Five conclusions that separate macro-aware firms from reactive ones.</a:t>
            </a:r>
          </a:p>
        </p:txBody>
      </p:sp>
      <p:sp>
        <p:nvSpPr>
          <p:cNvPr id="5" name="Point1"/>
          <p:cNvSpPr/>
          <p:nvPr/>
        </p:nvSpPr>
        <p:spPr>
          <a:xfrm>
            <a:off x="457200" y="975000"/>
            <a:ext cx="8229600" cy="700000"/>
          </a:xfrm>
          <a:prstGeom prst="rect">
            <a:avLst/>
          </a:prstGeom>
          <a:solidFill>
            <a:srgbClr val="1A2F6B"/>
          </a:solidFill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</a:rPr>
              <a:t xml:space="preserve">01 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 xml:space="preserve">Macro is the game, not the context. 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</a:rPr>
              <a:t>Inflation, rates, and GDP growth explain 80%+ of business performance. Companies that ignore macro signals react late and destroy margin.</a:t>
            </a:r>
          </a:p>
        </p:txBody>
      </p:sp>
      <p:sp>
        <p:nvSpPr>
          <p:cNvPr id="6" name="Point2"/>
          <p:cNvSpPr/>
          <p:nvPr/>
        </p:nvSpPr>
        <p:spPr>
          <a:xfrm>
            <a:off x="457200" y="1695000"/>
            <a:ext cx="8229600" cy="700000"/>
          </a:xfrm>
          <a:prstGeom prst="rect">
            <a:avLst/>
          </a:prstGeom>
          <a:solidFill>
            <a:srgbClr val="142558"/>
          </a:solidFill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</a:rPr>
              <a:t xml:space="preserve">02 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 xml:space="preserve">Business model type determines macro sensitivity. 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</a:rPr>
              <a:t>In rate hike cycles, asset-light beats asset-heavy. In growth spurts, marketplaces win. Knowing your model bucket is the first risk filter.</a:t>
            </a:r>
          </a:p>
        </p:txBody>
      </p:sp>
      <p:sp>
        <p:nvSpPr>
          <p:cNvPr id="7" name="Point3"/>
          <p:cNvSpPr/>
          <p:nvPr/>
        </p:nvSpPr>
        <p:spPr>
          <a:xfrm>
            <a:off x="457200" y="2415000"/>
            <a:ext cx="8229600" cy="700000"/>
          </a:xfrm>
          <a:prstGeom prst="rect">
            <a:avLst/>
          </a:prstGeom>
          <a:solidFill>
            <a:srgbClr val="1A2F6B"/>
          </a:solidFill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</a:rPr>
              <a:t xml:space="preserve">03 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 xml:space="preserve">Pricing power is the single most important macro hedge. 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</a:rPr>
              <a:t>Nestlé grew organic revenue 8.2% in FY2022 through price alone (Nestlé Annual Report, 2022). Without it, every 100bps of inflation hits gross margin directly.</a:t>
            </a:r>
          </a:p>
        </p:txBody>
      </p:sp>
      <p:sp>
        <p:nvSpPr>
          <p:cNvPr id="8" name="Point4"/>
          <p:cNvSpPr/>
          <p:nvPr/>
        </p:nvSpPr>
        <p:spPr>
          <a:xfrm>
            <a:off x="457200" y="3135000"/>
            <a:ext cx="8229600" cy="700000"/>
          </a:xfrm>
          <a:prstGeom prst="rect">
            <a:avLst/>
          </a:prstGeom>
          <a:solidFill>
            <a:srgbClr val="142558"/>
          </a:solidFill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</a:rPr>
              <a:t xml:space="preserve">04 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 xml:space="preserve">Second-order thinking is where the strategic edge lives. 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</a:rPr>
              <a:t>First-order macro effects are already priced by markets. The investable thesis is always one or two causal steps further than consensus analysis goes.</a:t>
            </a:r>
          </a:p>
        </p:txBody>
      </p:sp>
      <p:sp>
        <p:nvSpPr>
          <p:cNvPr id="9" name="Point5"/>
          <p:cNvSpPr/>
          <p:nvPr/>
        </p:nvSpPr>
        <p:spPr>
          <a:xfrm>
            <a:off x="457200" y="3855000"/>
            <a:ext cx="8229600" cy="700000"/>
          </a:xfrm>
          <a:prstGeom prst="rect">
            <a:avLst/>
          </a:prstGeom>
          <a:solidFill>
            <a:srgbClr val="1A2F6B"/>
          </a:solidFill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</a:rPr>
              <a:t xml:space="preserve">05 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 xml:space="preserve">Downturns are the best time to build competitive advantage. 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</a:rPr>
              <a:t>Zombie companies exit, talent becomes available, assets trade at distressed prices. Firms with capital and conviction capture disproportionate share in the recovery.</a:t>
            </a:r>
          </a:p>
        </p:txBody>
      </p:sp>
      <p:sp>
        <p:nvSpPr>
          <p:cNvPr id="10" name="Footer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lIns="27432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The following slides develop each conclusion with frameworks, case studies, and sourced data.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Divider 0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SectionNum"/>
          <p:cNvSpPr/>
          <p:nvPr/>
        </p:nvSpPr>
        <p:spPr>
          <a:xfrm>
            <a:off x="457200" y="685800"/>
            <a:ext cx="8229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</a:rPr>
              <a:t>SECTION 01</a:t>
            </a:r>
          </a:p>
        </p:txBody>
      </p:sp>
      <p:sp>
        <p:nvSpPr>
          <p:cNvPr id="4" name="SectionTitle"/>
          <p:cNvSpPr/>
          <p:nvPr/>
        </p:nvSpPr>
        <p:spPr>
          <a:xfrm>
            <a:off x="457200" y="1200000"/>
            <a:ext cx="82296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</a:rPr>
              <a:t>Macro &amp; Business Models</a:t>
            </a:r>
          </a:p>
        </p:txBody>
      </p:sp>
      <p:sp>
        <p:nvSpPr>
          <p:cNvPr id="5" name="SectionSubtitle"/>
          <p:cNvSpPr/>
          <p:nvPr/>
        </p:nvSpPr>
        <p:spPr>
          <a:xfrm>
            <a:off x="457200" y="2200000"/>
            <a:ext cx="8229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</a:rPr>
              <a:t>How macroeconomic forces shape business model performance, margins, and valuation</a:t>
            </a:r>
          </a:p>
        </p:txBody>
      </p:sp>
      <p:sp>
        <p:nvSpPr>
          <p:cNvPr id="6" name="BottomBar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4B"/>
          </a:solidFill>
          <a:ln/>
        </p:spPr>
        <p:txBody>
          <a:bodyPr wrap="square" lIns="27432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</a:rPr>
              <a:t>Strategic Macro Analysis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Divider 0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SectionNum"/>
          <p:cNvSpPr/>
          <p:nvPr/>
        </p:nvSpPr>
        <p:spPr>
          <a:xfrm>
            <a:off x="457200" y="685800"/>
            <a:ext cx="8229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</a:rPr>
              <a:t>SECTION 02</a:t>
            </a:r>
          </a:p>
        </p:txBody>
      </p:sp>
      <p:sp>
        <p:nvSpPr>
          <p:cNvPr id="4" name="SectionTitle"/>
          <p:cNvSpPr/>
          <p:nvPr/>
        </p:nvSpPr>
        <p:spPr>
          <a:xfrm>
            <a:off x="457200" y="1200000"/>
            <a:ext cx="82296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</a:rPr>
              <a:t>Case Studies &amp; Strategic Action</a:t>
            </a:r>
          </a:p>
        </p:txBody>
      </p:sp>
      <p:sp>
        <p:nvSpPr>
          <p:cNvPr id="5" name="SectionSubtitle"/>
          <p:cNvSpPr/>
          <p:nvPr/>
        </p:nvSpPr>
        <p:spPr>
          <a:xfrm>
            <a:off x="457200" y="2200000"/>
            <a:ext cx="8229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</a:rPr>
              <a:t>Evidence from tech, airlines, and FMCG — plus a framework to act on macro signals faster</a:t>
            </a:r>
          </a:p>
        </p:txBody>
      </p:sp>
      <p:sp>
        <p:nvSpPr>
          <p:cNvPr id="6" name="BottomBar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4B"/>
          </a:solidFill>
          <a:ln/>
        </p:spPr>
        <p:txBody>
          <a:bodyPr wrap="square" lIns="27432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</a:rPr>
              <a:t>Strategic Macro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2053</Words>
  <Application>Microsoft Office PowerPoint</Application>
  <PresentationFormat>On-screen Show (16:9)</PresentationFormat>
  <Paragraphs>333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Models, Competitive Dynamics &amp; Macro Lens</dc:title>
  <dc:subject>PptxGenJS Presentation</dc:subject>
  <dc:creator>PptxGenJS</dc:creator>
  <cp:lastModifiedBy>Srividya JAKKULA</cp:lastModifiedBy>
  <cp:revision>12</cp:revision>
  <dcterms:created xsi:type="dcterms:W3CDTF">2026-05-03T08:53:32Z</dcterms:created>
  <dcterms:modified xsi:type="dcterms:W3CDTF">2026-05-03T16:51:35Z</dcterms:modified>
</cp:coreProperties>
</file>